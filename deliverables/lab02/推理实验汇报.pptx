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0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平均耗时/ms</c:v>
                </c:pt>
              </c:strCache>
            </c:strRef>
          </c:tx>
          <c:spPr>
            <a:ln w="31750">
              <a:solidFill>
                <a:srgbClr val="426D80"/>
              </a:solidFill>
            </a:ln>
          </c:spPr>
          <c:dPt>
            <c:idx val="0"/>
            <c:spPr>
              <a:solidFill>
                <a:srgbClr val="939DA0"/>
              </a:solidFill>
              <a:ln>
                <a:noFill/>
              </a:ln>
            </c:spPr>
          </c:dPt>
          <c:dPt>
            <c:idx val="1"/>
            <c:spPr>
              <a:solidFill>
                <a:srgbClr val="426D80"/>
              </a:solidFill>
              <a:ln>
                <a:noFill/>
              </a:ln>
            </c:spPr>
          </c:dPt>
          <c:dPt>
            <c:idx val="2"/>
            <c:spPr>
              <a:solidFill>
                <a:srgbClr val="9A4728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全扫描</c:v>
                </c:pt>
                <c:pt idx="1">
                  <c:v>索引朴素</c:v>
                </c:pt>
                <c:pt idx="2">
                  <c:v>半朴素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49921.77270000078</c:v>
                </c:pt>
                <c:pt idx="1">
                  <c:v>1062.3735666680052</c:v>
                </c:pt>
                <c:pt idx="2">
                  <c:v>181.41463333449792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CFC3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max val="100000.0"/>
          <c:min val="1.0"/>
        </c:scaling>
        <c:delete val="0"/>
        <c:axPos val="b"/>
        <c:majorGridlines>
          <c:spPr>
            <a:ln>
              <a:solidFill>
                <a:srgbClr val="D9CFC3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D9CFC3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学习Bayes</c:v>
                </c:pt>
              </c:strCache>
            </c:strRef>
          </c:tx>
          <c:spPr>
            <a:ln w="31750">
              <a:solidFill>
                <a:srgbClr val="426D80"/>
              </a:solidFill>
            </a:ln>
          </c:spPr>
          <c:marker>
            <c:symbol val="circle"/>
            <c:size val="6"/>
            <c:spPr>
              <a:solidFill>
                <a:srgbClr val="426D80"/>
              </a:solidFill>
              <a:ln>
                <a:solidFill>
                  <a:srgbClr val="426D8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清洁</c:v>
                </c:pt>
                <c:pt idx="1">
                  <c:v>噪声.10</c:v>
                </c:pt>
                <c:pt idx="2">
                  <c:v>噪声.20</c:v>
                </c:pt>
                <c:pt idx="3">
                  <c:v>噪声.30</c:v>
                </c:pt>
                <c:pt idx="4">
                  <c:v>重扰动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0.8574999805847704</c:v>
                </c:pt>
                <c:pt idx="1">
                  <c:v>0.8435369885909454</c:v>
                </c:pt>
                <c:pt idx="2">
                  <c:v>0.7805124363703508</c:v>
                </c:pt>
                <c:pt idx="3">
                  <c:v>0.7274518040426476</c:v>
                </c:pt>
                <c:pt idx="4">
                  <c:v>0.6173713826353912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拟合Mamdani</c:v>
                </c:pt>
              </c:strCache>
            </c:strRef>
          </c:tx>
          <c:spPr>
            <a:ln w="31750">
              <a:solidFill>
                <a:srgbClr val="9A4728"/>
              </a:solidFill>
            </a:ln>
          </c:spPr>
          <c:marker>
            <c:symbol val="square"/>
            <c:size val="6"/>
            <c:spPr>
              <a:solidFill>
                <a:srgbClr val="9A4728"/>
              </a:solidFill>
              <a:ln>
                <a:solidFill>
                  <a:srgbClr val="9A4728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清洁</c:v>
                </c:pt>
                <c:pt idx="1">
                  <c:v>噪声.10</c:v>
                </c:pt>
                <c:pt idx="2">
                  <c:v>噪声.20</c:v>
                </c:pt>
                <c:pt idx="3">
                  <c:v>噪声.30</c:v>
                </c:pt>
                <c:pt idx="4">
                  <c:v>重扰动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0.7053353499886302</c:v>
                </c:pt>
                <c:pt idx="1">
                  <c:v>0.6917249499455369</c:v>
                </c:pt>
                <c:pt idx="2">
                  <c:v>0.6553113616186917</c:v>
                </c:pt>
                <c:pt idx="3">
                  <c:v>0.6190528400622507</c:v>
                </c:pt>
                <c:pt idx="4">
                  <c:v>0.6090624268505681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CFC3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5"/>
        </c:scaling>
        <c:delete val="0"/>
        <c:axPos val="l"/>
        <c:majorGridlines>
          <c:spPr>
            <a:ln>
              <a:solidFill>
                <a:srgbClr val="D9CFC3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D9CFC3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18791784"/>
        <c:crosses val="autoZero"/>
        <c:majorUnit val="0.1"/>
      </c:valAx>
    </c:plotArea>
    <c:plotVisOnly val="1"/>
    <c:dispBlanksAs val="gap"/>
    <c:showDLblsOverMax val="0"/>
  </c:chart>
  <c:txPr>
    <a:bodyPr/>
    <a:lstStyle/>
    <a:p>
      <a:pPr>
        <a:defRPr sz="1300">
          <a:latin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误报率</c:v>
                </c:pt>
              </c:strCache>
            </c:strRef>
          </c:tx>
          <c:spPr>
            <a:ln w="31750">
              <a:solidFill>
                <a:srgbClr val="426D80"/>
              </a:solidFill>
            </a:ln>
          </c:spPr>
          <c:dPt>
            <c:idx val="0"/>
            <c:spPr>
              <a:solidFill>
                <a:srgbClr val="426D80"/>
              </a:solidFill>
              <a:ln>
                <a:noFill/>
              </a:ln>
            </c:spPr>
          </c:dPt>
          <c:dPt>
            <c:idx val="1"/>
            <c:spPr>
              <a:solidFill>
                <a:srgbClr val="939DA0"/>
              </a:solidFill>
              <a:ln>
                <a:noFill/>
              </a:ln>
            </c:spPr>
          </c:dPt>
          <c:dPt>
            <c:idx val="2"/>
            <c:spPr>
              <a:solidFill>
                <a:srgbClr val="9A4728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不锁定</c:v>
                </c:pt>
                <c:pt idx="1">
                  <c:v>硬锁定</c:v>
                </c:pt>
                <c:pt idx="2">
                  <c:v>校准复核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0.21012575426836888</c:v>
                </c:pt>
                <c:pt idx="1">
                  <c:v>0.4394245633634428</c:v>
                </c:pt>
                <c:pt idx="2">
                  <c:v>0.35278751620007986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4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CFC3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 val="0"/>
        <c:axPos val="l"/>
        <c:majorGridlines>
          <c:spPr>
            <a:ln>
              <a:solidFill>
                <a:srgbClr val="D9CFC3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solidFill>
              <a:srgbClr val="D9CFC3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3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实验二汇报 · 第1页 · 汇报：刘亦达</a:t>
            </a:r>
          </a:p>
          <a:p>
            <a:r>
              <a:t>各位老师好，我们研究企业股权风险推理。实验二围绕结构证明、不确定性评分和复核行动，完成基础推理、算法优化与混合创新。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实验二汇报 · 第2页 · 汇报：刘亦达</a:t>
            </a:r>
          </a:p>
          <a:p>
            <a:r>
              <a:t>同源案例包含持股、交易和担保，建立二十七条安全正霍恩规则。由百分之八十与百分之六十五的持股，先推出两段控制关系；C一支配C三的两份股权合计百分之五十五，据此继续推导控制。P一的简单路径经济权益为百分之三十四点二，与控制不是一回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实验二汇报 · 第3页 · 汇报：刘亦达</a:t>
            </a:r>
          </a:p>
          <a:p>
            <a:r>
              <a:t>正向求不动点，表格化反向回答目标查询；归结用独立子案例，所有证明可重放。完备性限于有限、安全、无函数项且未截断的系统。逻辑可靠不等于资料真实，推不出不等于假。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实验二汇报 · 第4页 · 汇报：刘亦达</a:t>
            </a:r>
          </a:p>
          <a:p>
            <a:r>
              <a:t>同一企业的四项指标分别进入贝叶斯和马姆达尼。贝叶斯以先验和条件概率计算后验，并从训练集学习参数；马姆达尼通过隶属度、规则聚合和质心得到评分。缺测保留未知，模型选择只用训练集和验证集。本项目中，贝叶斯更快，模糊推理需遍历规则和网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实验二汇报 · 第5页 · 汇报：刘亦达</a:t>
            </a:r>
          </a:p>
          <a:p>
            <a:r>
              <a:t>确定性优化覆盖四种规模，每种方法重复三次。十六组结构中，三种算法都得到三千零三十一条事实。索引朴素到半朴素，耗时从一千零六十二点三七降到一百八十一点四一毫秒，加速约五点八六倍；迭代轮数不变，候选检查显著减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实验二汇报 · 第6页 · 汇报：刘亦达</a:t>
            </a:r>
          </a:p>
          <a:p>
            <a:r>
              <a:t>不确定性实验使用三个种子、八种观测条件。学习后的贝叶斯清洁F一为零点八五七五，优于手工参数；严重噪声和百分之四十缺测下，F一降到零点六一七四。因此同时报告参数敏感性、耗时和消融；零权重组件移除无变化，回退基线不冒充融合增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实验二汇报 · 第7页 · 汇报：刘亦达</a:t>
            </a:r>
          </a:p>
          <a:p>
            <a:r>
              <a:t>混合创新共用结构证明、概率和模糊评分入口。不锁定只看评分；硬锁定还强制保留结构预警；校准策略要求预警同时达到最低评分支持。阈值仅用验证集选择，证明与原始分数不变。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实验二汇报 · 第8页 · 汇报：刘亦达</a:t>
            </a:r>
          </a:p>
          <a:p>
            <a:r>
              <a:t>图级验证比较三个种子、六种扰动、十一种方法。在百分之二十错误闭环条件下，校准相对硬锁定，误报率从百分之四十三点九四降到百分之三十五点二八，但F一仍低于不锁定；这些策略的原始评分相同。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实验二汇报 · 第9页 · 汇报：刘亦达</a:t>
            </a:r>
          </a:p>
          <a:p>
            <a:r>
              <a:t>五维比较表明：规则便于追溯，概率依赖分布假设，模糊方法能纳入经验，但需校准参数。项目二百零四项测试通过，两万三千七百六十条图级决策已回放。教学数据不能认定真实风险；还需跨分布验证和人工复核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57784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 lang="zh-CN">
                <a:solidFill>
                  <a:srgbClr val="9A4728"/>
                </a:solidFill>
                <a:latin typeface="Microsoft YaHei"/>
                <a:ea typeface="Microsoft YaHei"/>
              </a:rPr>
              <a:t>人工智能导论 · 实验二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100023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900" b="1" lang="zh-CN">
                <a:solidFill>
                  <a:srgbClr val="292724"/>
                </a:solidFill>
                <a:latin typeface="Microsoft YaHei"/>
                <a:ea typeface="Microsoft YaHei"/>
              </a:rPr>
              <a:t>企业股权风险推理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0789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3400" b="1" lang="zh-CN">
                <a:solidFill>
                  <a:srgbClr val="292724"/>
                </a:solidFill>
                <a:latin typeface="Microsoft YaHei"/>
                <a:ea typeface="Microsoft YaHei"/>
              </a:rPr>
              <a:t>确定性与不确定性混合推理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3400" b="1" lang="zh-CN">
                <a:solidFill>
                  <a:srgbClr val="292724"/>
                </a:solidFill>
                <a:latin typeface="Microsoft YaHei"/>
                <a:ea typeface="Microsoft YaHei"/>
              </a:rPr>
              <a:t>算法实现、优化与实验验证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191256"/>
            <a:ext cx="3182111" cy="0"/>
          </a:xfrm>
          <a:prstGeom prst="line">
            <a:avLst/>
          </a:prstGeom>
          <a:ln w="16510">
            <a:solidFill>
              <a:srgbClr val="9A4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3483864"/>
            <a:ext cx="3246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500" b="1" lang="zh-CN">
                <a:solidFill>
                  <a:srgbClr val="9A4728"/>
                </a:solidFill>
                <a:latin typeface="Microsoft YaHei"/>
                <a:ea typeface="Microsoft YaHei"/>
              </a:rPr>
              <a:t>确定性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33009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一阶知识库与完整证明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07992" y="3191256"/>
            <a:ext cx="3182112" cy="0"/>
          </a:xfrm>
          <a:prstGeom prst="line">
            <a:avLst/>
          </a:prstGeom>
          <a:ln w="16510">
            <a:solidFill>
              <a:srgbClr val="9A4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07992" y="3483864"/>
            <a:ext cx="3246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500" b="1" lang="zh-CN">
                <a:solidFill>
                  <a:srgbClr val="9A4728"/>
                </a:solidFill>
                <a:latin typeface="Microsoft YaHei"/>
                <a:ea typeface="Microsoft YaHei"/>
              </a:rPr>
              <a:t>不确定性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4114800"/>
            <a:ext cx="33009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Bayes 与 Mamdani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57616" y="3191256"/>
            <a:ext cx="3182112" cy="0"/>
          </a:xfrm>
          <a:prstGeom prst="line">
            <a:avLst/>
          </a:prstGeom>
          <a:ln w="16510">
            <a:solidFill>
              <a:srgbClr val="9A4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57616" y="3483864"/>
            <a:ext cx="3246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500" b="1" lang="zh-CN">
                <a:solidFill>
                  <a:srgbClr val="9A4728"/>
                </a:solidFill>
                <a:latin typeface="Microsoft YaHei"/>
                <a:ea typeface="Microsoft YaHei"/>
              </a:rPr>
              <a:t>混合创新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6" y="4114800"/>
            <a:ext cx="33009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评分与复核策略分离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30952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400" b="0" lang="zh-CN">
                <a:solidFill>
                  <a:srgbClr val="71685F"/>
                </a:solidFill>
                <a:latin typeface="Microsoft YaHei"/>
                <a:ea typeface="Microsoft YaHei"/>
              </a:rPr>
              <a:t>华南农业大学 · 数学与信息学院、软件学院 · 软件工程5班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600" b="0" lang="zh-CN">
                <a:solidFill>
                  <a:srgbClr val="292724"/>
                </a:solidFill>
                <a:latin typeface="Microsoft YaHei"/>
                <a:ea typeface="Microsoft YaHei"/>
              </a:rPr>
              <a:t>第31组   组长：梁镇贤   汇报：刘亦达   ｜   2026年10月26日</a:t>
            </a:r>
          </a:p>
        </p:txBody>
      </p:sp>
    </p:spTree>
  </p:cSld>
  <p:clrMapOvr>
    <a:masterClrMapping/>
  </p:clrMapOvr>
  <p:transition advClick="1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57784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 lang="zh-CN">
                <a:solidFill>
                  <a:srgbClr val="9A4728"/>
                </a:solidFill>
                <a:latin typeface="Microsoft YaHei"/>
                <a:ea typeface="Microsoft YaHei"/>
              </a:rPr>
              <a:t>基础 · 同源场景与一阶知识库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100023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900" b="1" lang="zh-CN">
                <a:solidFill>
                  <a:srgbClr val="292724"/>
                </a:solidFill>
                <a:latin typeface="Microsoft YaHei"/>
                <a:ea typeface="Microsoft YaHei"/>
              </a:rPr>
              <a:t>同一份股权图，区分控制与权益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700" b="0" lang="zh-CN">
                <a:solidFill>
                  <a:srgbClr val="71685F"/>
                </a:solidFill>
                <a:latin typeface="Microsoft YaHei"/>
                <a:ea typeface="Microsoft YaHei"/>
              </a:rPr>
              <a:t>Holds(x,c,r) 等谓词  ·  16实体基础 / 29实体扩展  ·  27条安全正Horn规则</a:t>
            </a:r>
          </a:p>
        </p:txBody>
      </p:sp>
      <p:sp>
        <p:nvSpPr>
          <p:cNvPr id="5" name="Oval 4"/>
          <p:cNvSpPr/>
          <p:nvPr/>
        </p:nvSpPr>
        <p:spPr>
          <a:xfrm>
            <a:off x="1069848" y="2587752"/>
            <a:ext cx="722376" cy="722376"/>
          </a:xfrm>
          <a:prstGeom prst="ellipse">
            <a:avLst/>
          </a:prstGeom>
          <a:solidFill>
            <a:srgbClr val="E2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752344"/>
            <a:ext cx="72237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2100" b="1" lang="zh-CN">
                <a:solidFill>
                  <a:srgbClr val="292724"/>
                </a:solidFill>
                <a:latin typeface="Microsoft YaHei"/>
                <a:ea typeface="Microsoft YaHei"/>
              </a:rPr>
              <a:t>P1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92224" y="2944368"/>
            <a:ext cx="1289304" cy="0"/>
          </a:xfrm>
          <a:prstGeom prst="line">
            <a:avLst/>
          </a:prstGeom>
          <a:ln w="16510">
            <a:solidFill>
              <a:srgbClr val="9A47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56231" y="2496312"/>
            <a:ext cx="1161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800" b="1" lang="zh-CN">
                <a:solidFill>
                  <a:srgbClr val="9A4728"/>
                </a:solidFill>
                <a:latin typeface="Microsoft YaHei"/>
                <a:ea typeface="Microsoft YaHei"/>
              </a:rPr>
              <a:t>80%</a:t>
            </a:r>
          </a:p>
        </p:txBody>
      </p:sp>
      <p:sp>
        <p:nvSpPr>
          <p:cNvPr id="9" name="Oval 8"/>
          <p:cNvSpPr/>
          <p:nvPr/>
        </p:nvSpPr>
        <p:spPr>
          <a:xfrm>
            <a:off x="3081528" y="2587752"/>
            <a:ext cx="722376" cy="722376"/>
          </a:xfrm>
          <a:prstGeom prst="ellipse">
            <a:avLst/>
          </a:prstGeom>
          <a:solidFill>
            <a:srgbClr val="E2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8" y="2752344"/>
            <a:ext cx="72237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2100" b="1" lang="zh-CN">
                <a:solidFill>
                  <a:srgbClr val="292724"/>
                </a:solidFill>
                <a:latin typeface="Microsoft YaHei"/>
                <a:ea typeface="Microsoft YaHei"/>
              </a:rPr>
              <a:t>C1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03904" y="2944368"/>
            <a:ext cx="1289304" cy="0"/>
          </a:xfrm>
          <a:prstGeom prst="line">
            <a:avLst/>
          </a:prstGeom>
          <a:ln w="16510">
            <a:solidFill>
              <a:srgbClr val="9A47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67912" y="2496312"/>
            <a:ext cx="1161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800" b="1" lang="zh-CN">
                <a:solidFill>
                  <a:srgbClr val="9A4728"/>
                </a:solidFill>
                <a:latin typeface="Microsoft YaHei"/>
                <a:ea typeface="Microsoft YaHei"/>
              </a:rPr>
              <a:t>65%</a:t>
            </a:r>
          </a:p>
        </p:txBody>
      </p:sp>
      <p:sp>
        <p:nvSpPr>
          <p:cNvPr id="13" name="Oval 12"/>
          <p:cNvSpPr/>
          <p:nvPr/>
        </p:nvSpPr>
        <p:spPr>
          <a:xfrm>
            <a:off x="5093208" y="2587752"/>
            <a:ext cx="722376" cy="722376"/>
          </a:xfrm>
          <a:prstGeom prst="ellipse">
            <a:avLst/>
          </a:prstGeom>
          <a:solidFill>
            <a:srgbClr val="E2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3208" y="2752344"/>
            <a:ext cx="72237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2100" b="1" lang="zh-CN">
                <a:solidFill>
                  <a:srgbClr val="292724"/>
                </a:solidFill>
                <a:latin typeface="Microsoft YaHei"/>
                <a:ea typeface="Microsoft YaHei"/>
              </a:rPr>
              <a:t>C2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15584" y="2944368"/>
            <a:ext cx="1289304" cy="0"/>
          </a:xfrm>
          <a:prstGeom prst="line">
            <a:avLst/>
          </a:prstGeom>
          <a:ln w="16510">
            <a:solidFill>
              <a:srgbClr val="9A47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79592" y="2496312"/>
            <a:ext cx="1161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800" b="1" lang="zh-CN">
                <a:solidFill>
                  <a:srgbClr val="9A4728"/>
                </a:solidFill>
                <a:latin typeface="Microsoft YaHei"/>
                <a:ea typeface="Microsoft YaHei"/>
              </a:rPr>
              <a:t>35%</a:t>
            </a:r>
          </a:p>
        </p:txBody>
      </p:sp>
      <p:sp>
        <p:nvSpPr>
          <p:cNvPr id="17" name="Oval 16"/>
          <p:cNvSpPr/>
          <p:nvPr/>
        </p:nvSpPr>
        <p:spPr>
          <a:xfrm>
            <a:off x="7104888" y="2587752"/>
            <a:ext cx="722376" cy="722376"/>
          </a:xfrm>
          <a:prstGeom prst="ellipse">
            <a:avLst/>
          </a:prstGeom>
          <a:solidFill>
            <a:srgbClr val="9A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2752344"/>
            <a:ext cx="72237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2100" b="1" lang="zh-CN">
                <a:solidFill>
                  <a:srgbClr val="F8F5F0"/>
                </a:solidFill>
                <a:latin typeface="Microsoft YaHei"/>
                <a:ea typeface="Microsoft YaHei"/>
              </a:rPr>
              <a:t>C3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38144" y="3310128"/>
            <a:ext cx="0" cy="374904"/>
          </a:xfrm>
          <a:prstGeom prst="line">
            <a:avLst/>
          </a:prstGeom>
          <a:ln w="16510">
            <a:solidFill>
              <a:srgbClr val="426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38144" y="3685032"/>
            <a:ext cx="4023360" cy="0"/>
          </a:xfrm>
          <a:prstGeom prst="line">
            <a:avLst/>
          </a:prstGeom>
          <a:ln w="16510">
            <a:solidFill>
              <a:srgbClr val="426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461504" y="3310128"/>
            <a:ext cx="0" cy="374904"/>
          </a:xfrm>
          <a:prstGeom prst="line">
            <a:avLst/>
          </a:prstGeom>
          <a:ln w="16510">
            <a:solidFill>
              <a:srgbClr val="426D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25112" y="3794760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600" b="0" lang="zh-CN">
                <a:solidFill>
                  <a:srgbClr val="426D80"/>
                </a:solidFill>
                <a:latin typeface="Microsoft YaHei"/>
                <a:ea typeface="Microsoft YaHei"/>
              </a:rPr>
              <a:t>C1直接持股20%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2792" y="2441448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4600" b="1" lang="zh-CN">
                <a:solidFill>
                  <a:srgbClr val="9A4728"/>
                </a:solidFill>
                <a:latin typeface="Microsoft YaHei"/>
                <a:ea typeface="Microsoft YaHei"/>
              </a:rPr>
              <a:t>55%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3246120"/>
            <a:ext cx="242316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C1可支配C3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35% + 20%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98848"/>
            <a:ext cx="1078992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1" lang="zh-CN">
                <a:solidFill>
                  <a:srgbClr val="292724"/>
                </a:solidFill>
                <a:latin typeface="Microsoft YaHei"/>
                <a:ea typeface="Microsoft YaHei"/>
              </a:rPr>
              <a:t>两段绝对控股 + 两份股权合计55% ⇒ C1控制C3 ⇒ P1控制C3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515721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300" b="0" lang="zh-CN">
                <a:solidFill>
                  <a:srgbClr val="426D80"/>
                </a:solidFill>
                <a:latin typeface="Microsoft YaHei"/>
                <a:ea typeface="Microsoft YaHei"/>
              </a:rPr>
              <a:t>经济权益：0.8 × 0.2 + 0.8 × 0.65 × 0.35 = 34.2%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5815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500" b="0" lang="zh-CN">
                <a:solidFill>
                  <a:srgbClr val="71685F"/>
                </a:solidFill>
                <a:latin typeface="Microsoft YaHei"/>
                <a:ea typeface="Microsoft YaHei"/>
              </a:rPr>
              <a:t>控制候选与简单路径权益回答不同问题；不是现实企业的法律认定。</a:t>
            </a:r>
          </a:p>
        </p:txBody>
      </p:sp>
    </p:spTree>
  </p:cSld>
  <p:clrMapOvr>
    <a:masterClrMapping/>
  </p:clrMapOvr>
  <p:transition advClick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57784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 lang="zh-CN">
                <a:solidFill>
                  <a:srgbClr val="9A4728"/>
                </a:solidFill>
                <a:latin typeface="Microsoft YaHei"/>
                <a:ea typeface="Microsoft YaHei"/>
              </a:rPr>
              <a:t>基础 · 算法、证明与可靠性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100023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900" b="1" lang="zh-CN">
                <a:solidFill>
                  <a:srgbClr val="292724"/>
                </a:solidFill>
                <a:latin typeface="Microsoft YaHei"/>
                <a:ea typeface="Microsoft YaHei"/>
              </a:rPr>
              <a:t>保留完整证明，也说明适用边界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84248"/>
            <a:ext cx="3218688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300" b="1" lang="zh-CN">
                <a:solidFill>
                  <a:srgbClr val="9A4728"/>
                </a:solidFill>
                <a:latin typeface="Microsoft YaHei"/>
                <a:ea typeface="Microsoft YaHei"/>
              </a:rPr>
              <a:t>正向推理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34056"/>
            <a:ext cx="3227832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lang="zh-CN">
                <a:solidFill>
                  <a:srgbClr val="426D80"/>
                </a:solidFill>
                <a:latin typeface="Microsoft YaHei"/>
                <a:ea typeface="Microsoft YaHei"/>
              </a:rPr>
              <a:t>F(t+1) = T_R(F(t))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566160"/>
            <a:ext cx="3209544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事实驱动到不动点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保存规则、绑定与前提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索引与delta减少重复匹配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8848" y="1984248"/>
            <a:ext cx="3218688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300" b="1" lang="zh-CN">
                <a:solidFill>
                  <a:srgbClr val="9A4728"/>
                </a:solidFill>
                <a:latin typeface="Microsoft YaHei"/>
                <a:ea typeface="Microsoft YaHei"/>
              </a:rPr>
              <a:t>表格化反向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2734056"/>
            <a:ext cx="3227832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lang="zh-CN">
                <a:solidFill>
                  <a:srgbClr val="426D80"/>
                </a:solidFill>
                <a:latin typeface="Microsoft YaHei"/>
                <a:ea typeface="Microsoft YaHei"/>
              </a:rPr>
              <a:t>目标 → 子目标 → 答案表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3566160"/>
            <a:ext cx="3209544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按查询组织推理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复用中间答案、处理递归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未证实与预算耗尽分开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752" y="1984248"/>
            <a:ext cx="3218688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300" b="1" lang="zh-CN">
                <a:solidFill>
                  <a:srgbClr val="9A4728"/>
                </a:solidFill>
                <a:latin typeface="Microsoft YaHei"/>
                <a:ea typeface="Microsoft YaHei"/>
              </a:rPr>
              <a:t>独立归结子案例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734056"/>
            <a:ext cx="3227832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lang="zh-CN">
                <a:solidFill>
                  <a:srgbClr val="426D80"/>
                </a:solidFill>
                <a:latin typeface="Microsoft YaHei"/>
                <a:ea typeface="Microsoft YaHei"/>
              </a:rPr>
              <a:t>KB ∧ ¬Q ⇒ 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566160"/>
            <a:ext cx="3209544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子句化、合一、归结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证明步骤可独立重放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不冒充完整算术规则库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5202936"/>
            <a:ext cx="10863072" cy="0"/>
          </a:xfrm>
          <a:prstGeom prst="line">
            <a:avLst/>
          </a:prstGeom>
          <a:ln w="16510">
            <a:solidFill>
              <a:srgbClr val="D9C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5495544"/>
            <a:ext cx="1084478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lang="zh-CN">
                <a:solidFill>
                  <a:srgbClr val="292724"/>
                </a:solidFill>
                <a:latin typeface="Microsoft YaHei"/>
                <a:ea typeface="Microsoft YaHei"/>
              </a:rPr>
              <a:t>有限常量域 · 安全正Horn · 无函数项 · 无资源截断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lang="zh-CN">
                <a:solidFill>
                  <a:srgbClr val="292724"/>
                </a:solidFill>
                <a:latin typeface="Microsoft YaHei"/>
                <a:ea typeface="Microsoft YaHei"/>
              </a:rPr>
              <a:t>逻辑可靠 ≠ 资料真实；推不出 ≠ 已证伪。</a:t>
            </a:r>
          </a:p>
        </p:txBody>
      </p:sp>
    </p:spTree>
  </p:cSld>
  <p:clrMapOvr>
    <a:masterClrMapping/>
  </p:clrMapOvr>
  <p:transition advClick="1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57784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 lang="zh-CN">
                <a:solidFill>
                  <a:srgbClr val="9A4728"/>
                </a:solidFill>
                <a:latin typeface="Microsoft YaHei"/>
                <a:ea typeface="Microsoft YaHei"/>
              </a:rPr>
              <a:t>基础 · 两种不确定性推理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100023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900" b="1" lang="zh-CN">
                <a:solidFill>
                  <a:srgbClr val="292724"/>
                </a:solidFill>
                <a:latin typeface="Microsoft YaHei"/>
                <a:ea typeface="Microsoft YaHei"/>
              </a:rPr>
              <a:t>同一组指标，两类不确定性推理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64792"/>
            <a:ext cx="1083564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不透明度 / 关联交易比例 / 担保负荷 / 回路线索：同一输入、不同测度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16752" y="2404872"/>
            <a:ext cx="0" cy="3438144"/>
          </a:xfrm>
          <a:prstGeom prst="line">
            <a:avLst/>
          </a:prstGeom>
          <a:ln w="16510">
            <a:solidFill>
              <a:srgbClr val="D9C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04088" y="2414016"/>
            <a:ext cx="49651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600" b="1" lang="zh-CN">
                <a:solidFill>
                  <a:srgbClr val="426D80"/>
                </a:solidFill>
                <a:latin typeface="Microsoft YaHei"/>
                <a:ea typeface="Microsoft YaHei"/>
              </a:rPr>
              <a:t>Bayes：条件概率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090672"/>
            <a:ext cx="4965192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100" b="0" lang="zh-CN">
                <a:solidFill>
                  <a:srgbClr val="292724"/>
                </a:solidFill>
                <a:latin typeface="Microsoft YaHei"/>
                <a:ea typeface="Microsoft YaHei"/>
              </a:rPr>
              <a:t>后验 ∝ 先验 × 观测指标似然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100" b="0" lang="zh-CN">
                <a:solidFill>
                  <a:srgbClr val="292724"/>
                </a:solidFill>
                <a:latin typeface="Microsoft YaHei"/>
                <a:ea typeface="Microsoft YaHei"/>
              </a:rPr>
              <a:t>先验、CPT由训练集估计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4096512"/>
            <a:ext cx="4919472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缺测：从观测证据中省略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本项目星形模型评分为 O(d)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不把条件独立假设当作事实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5422392"/>
            <a:ext cx="491947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1" lang="zh-CN">
                <a:solidFill>
                  <a:srgbClr val="426D80"/>
                </a:solidFill>
                <a:latin typeface="Microsoft YaHei"/>
                <a:ea typeface="Microsoft YaHei"/>
              </a:rPr>
              <a:t>清洁F1  0.8575   ·   6.7 μs/样本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414016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600" b="1" lang="zh-CN">
                <a:solidFill>
                  <a:srgbClr val="9A4728"/>
                </a:solidFill>
                <a:latin typeface="Microsoft YaHei"/>
                <a:ea typeface="Microsoft YaHei"/>
              </a:rPr>
              <a:t>Mamdani：模糊隶属度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90672"/>
            <a:ext cx="4855464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100" b="0" lang="zh-CN">
                <a:solidFill>
                  <a:srgbClr val="292724"/>
                </a:solidFill>
                <a:latin typeface="Microsoft YaHei"/>
                <a:ea typeface="Microsoft YaHei"/>
              </a:rPr>
              <a:t>隶属度 → min/max聚合 → 质心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100" b="0" lang="zh-CN">
                <a:solidFill>
                  <a:srgbClr val="292724"/>
                </a:solidFill>
                <a:latin typeface="Microsoft YaHei"/>
                <a:ea typeface="Microsoft YaHei"/>
              </a:rPr>
              <a:t>训练集拟合15组参数候选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4096512"/>
            <a:ext cx="4800600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缺测：评分向中性值收缩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规则数 × 输出网格带来开销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模糊评分不冒称后验概率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422392"/>
            <a:ext cx="4800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1" lang="zh-CN">
                <a:solidFill>
                  <a:srgbClr val="9A4728"/>
                </a:solidFill>
                <a:latin typeface="Microsoft YaHei"/>
                <a:ea typeface="Microsoft YaHei"/>
              </a:rPr>
              <a:t>清洁F1  0.7053   ·   245.8 μs/样本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989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400" b="0" lang="zh-CN">
                <a:solidFill>
                  <a:srgbClr val="71685F"/>
                </a:solidFill>
                <a:latin typeface="Microsoft YaHei"/>
                <a:ea typeface="Microsoft YaHei"/>
              </a:rPr>
              <a:t>参数与权重仅用训练/验证集选择；三种子均值不是现实企业准确率。</a:t>
            </a:r>
          </a:p>
        </p:txBody>
      </p:sp>
    </p:spTree>
  </p:cSld>
  <p:clrMapOvr>
    <a:masterClrMapping/>
  </p:clrMapOvr>
  <p:transition advClick="1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57784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 lang="zh-CN">
                <a:solidFill>
                  <a:srgbClr val="9A4728"/>
                </a:solidFill>
                <a:latin typeface="Microsoft YaHei"/>
                <a:ea typeface="Microsoft YaHei"/>
              </a:rPr>
              <a:t>进阶 · 确定性优化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100023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900" b="1" lang="zh-CN">
                <a:solidFill>
                  <a:srgbClr val="292724"/>
                </a:solidFill>
                <a:latin typeface="Microsoft YaHei"/>
                <a:ea typeface="Microsoft YaHei"/>
              </a:rPr>
              <a:t>闭包不变，减少重复匹配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764792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1 / 4 / 8 / 16组结构 × 三次重复；以下为16组：3031条事实，20轮迭代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67512" y="2368296"/>
          <a:ext cx="7104888" cy="30083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84464" y="2505456"/>
            <a:ext cx="310896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5500" b="1" lang="zh-CN">
                <a:solidFill>
                  <a:srgbClr val="9A4728"/>
                </a:solidFill>
                <a:latin typeface="Microsoft YaHei"/>
                <a:ea typeface="Microsoft YaHei"/>
              </a:rPr>
              <a:t>5.86×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3547872"/>
            <a:ext cx="3035808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100" b="0" lang="zh-CN">
                <a:solidFill>
                  <a:srgbClr val="292724"/>
                </a:solidFill>
                <a:latin typeface="Microsoft YaHei"/>
                <a:ea typeface="Microsoft YaHei"/>
              </a:rPr>
              <a:t>半朴素相对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100" b="0" lang="zh-CN">
                <a:solidFill>
                  <a:srgbClr val="292724"/>
                </a:solidFill>
                <a:latin typeface="Microsoft YaHei"/>
                <a:ea typeface="Microsoft YaHei"/>
              </a:rPr>
              <a:t>索引朴素加速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599432"/>
            <a:ext cx="3044952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lang="zh-CN">
                <a:solidFill>
                  <a:srgbClr val="71685F"/>
                </a:solidFill>
                <a:latin typeface="Microsoft YaHei"/>
                <a:ea typeface="Microsoft YaHei"/>
              </a:rPr>
              <a:t>候选检查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lang="zh-CN">
                <a:solidFill>
                  <a:srgbClr val="71685F"/>
                </a:solidFill>
                <a:latin typeface="Microsoft YaHei"/>
                <a:ea typeface="Microsoft YaHei"/>
              </a:rPr>
              <a:t>84,734 → 8,413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78424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700" b="0" lang="zh-CN">
                <a:solidFill>
                  <a:srgbClr val="292724"/>
                </a:solidFill>
                <a:latin typeface="Microsoft YaHei"/>
                <a:ea typeface="Microsoft YaHei"/>
              </a:rPr>
              <a:t>不同规模加速比：1组 2.16×   /   4组 3.12×   /   8组 3.83×   /   16组 5.86×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0819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lang="zh-CN">
                <a:solidFill>
                  <a:srgbClr val="71685F"/>
                </a:solidFill>
                <a:latin typeface="Microsoft YaHei"/>
                <a:ea typeface="Microsoft YaHei"/>
              </a:rPr>
              <a:t>横轴为对数耗时；先检查完整闭包一致，再解释时间、迭代与搜索空间。</a:t>
            </a:r>
          </a:p>
        </p:txBody>
      </p:sp>
    </p:spTree>
  </p:cSld>
  <p:clrMapOvr>
    <a:masterClrMapping/>
  </p:clrMapOvr>
  <p:transition advClick="1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57784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 lang="zh-CN">
                <a:solidFill>
                  <a:srgbClr val="9A4728"/>
                </a:solidFill>
                <a:latin typeface="Microsoft YaHei"/>
                <a:ea typeface="Microsoft YaHei"/>
              </a:rPr>
              <a:t>进阶 · 参数学习与抗干扰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100023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900" b="1" lang="zh-CN">
                <a:solidFill>
                  <a:srgbClr val="292724"/>
                </a:solidFill>
                <a:latin typeface="Microsoft YaHei"/>
                <a:ea typeface="Microsoft YaHei"/>
              </a:rPr>
              <a:t>更准不等于更稳：参数与扰动都要测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7647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700" b="0" lang="zh-CN">
                <a:solidFill>
                  <a:srgbClr val="71685F"/>
                </a:solidFill>
                <a:latin typeface="Microsoft YaHei"/>
                <a:ea typeface="Microsoft YaHei"/>
              </a:rPr>
              <a:t>3种子 · 8条件 · 每种子训练1000 / 验证300 / 测试600；模型在测试前冻结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2404872"/>
          <a:ext cx="6556248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" y="2176272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400" b="1" lang="zh-CN">
                <a:solidFill>
                  <a:srgbClr val="426D80"/>
                </a:solidFill>
                <a:latin typeface="Microsoft YaHei"/>
                <a:ea typeface="Microsoft YaHei"/>
              </a:rPr>
              <a:t>— 学习Bayes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176272"/>
            <a:ext cx="2788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400" b="1" lang="zh-CN">
                <a:solidFill>
                  <a:srgbClr val="9A4728"/>
                </a:solidFill>
                <a:latin typeface="Microsoft YaHei"/>
                <a:ea typeface="Microsoft YaHei"/>
              </a:rPr>
              <a:t>— 拟合Mamdani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2523744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100" b="1" lang="zh-CN">
                <a:solidFill>
                  <a:srgbClr val="292724"/>
                </a:solidFill>
                <a:latin typeface="Microsoft YaHei"/>
                <a:ea typeface="Microsoft YaHei"/>
              </a:rPr>
              <a:t>CPT学习：清洁F1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9831" y="3136392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500" b="1" lang="zh-CN">
                <a:solidFill>
                  <a:srgbClr val="426D80"/>
                </a:solidFill>
                <a:latin typeface="Microsoft YaHei"/>
                <a:ea typeface="Microsoft YaHei"/>
              </a:rPr>
              <a:t>0.7767 → 0.8575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895344"/>
            <a:ext cx="3502152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lang="zh-CN">
                <a:solidFill>
                  <a:srgbClr val="71685F"/>
                </a:solidFill>
                <a:latin typeface="Microsoft YaHei"/>
                <a:ea typeface="Microsoft YaHei"/>
              </a:rPr>
              <a:t>拟合15组模糊参数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lang="zh-CN">
                <a:solidFill>
                  <a:srgbClr val="71685F"/>
                </a:solidFill>
                <a:latin typeface="Microsoft YaHei"/>
                <a:ea typeface="Microsoft YaHei"/>
              </a:rPr>
              <a:t>同步检查参数敏感性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lang="zh-CN">
                <a:solidFill>
                  <a:srgbClr val="71685F"/>
                </a:solidFill>
                <a:latin typeface="Microsoft YaHei"/>
                <a:ea typeface="Microsoft YaHei"/>
              </a:rPr>
              <a:t>零权重移除可无变化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6235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292724"/>
                </a:solidFill>
                <a:latin typeface="Microsoft YaHei"/>
                <a:ea typeface="Microsoft YaHei"/>
              </a:rPr>
              <a:t>重扰动：噪声σ=0.35 + 缺测40%；学习Bayes F1降为0.6174。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6080760"/>
            <a:ext cx="105156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lang="zh-CN">
                <a:solidFill>
                  <a:srgbClr val="71685F"/>
                </a:solidFill>
                <a:latin typeface="Microsoft YaHei"/>
                <a:ea typeface="Microsoft YaHei"/>
              </a:rPr>
              <a:t>主图展示5个条件；缺测、混合与消融详表见报告。回退基线不等于组件边际贡献。</a:t>
            </a:r>
          </a:p>
        </p:txBody>
      </p:sp>
    </p:spTree>
  </p:cSld>
  <p:clrMapOvr>
    <a:masterClrMapping/>
  </p:clrMapOvr>
  <p:transition advClick="1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57784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 lang="zh-CN">
                <a:solidFill>
                  <a:srgbClr val="9A4728"/>
                </a:solidFill>
                <a:latin typeface="Microsoft YaHei"/>
                <a:ea typeface="Microsoft YaHei"/>
              </a:rPr>
              <a:t>创新方向1 · 混合推理模型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100023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900" b="1" lang="zh-CN">
                <a:solidFill>
                  <a:srgbClr val="292724"/>
                </a:solidFill>
                <a:latin typeface="Microsoft YaHei"/>
                <a:ea typeface="Microsoft YaHei"/>
              </a:rPr>
              <a:t>创新：把评分与最终行动分开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2002536"/>
            <a:ext cx="29443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400" b="1" lang="zh-CN">
                <a:solidFill>
                  <a:srgbClr val="9A4728"/>
                </a:solidFill>
                <a:latin typeface="Microsoft YaHei"/>
                <a:ea typeface="Microsoft YaHei"/>
              </a:rPr>
              <a:t>结构证明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69748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100" b="0" lang="zh-CN">
                <a:solidFill>
                  <a:srgbClr val="292724"/>
                </a:solidFill>
                <a:latin typeface="Microsoft YaHei"/>
                <a:ea typeface="Microsoft YaHei"/>
              </a:rPr>
              <a:t>可重放的预警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0288" y="2002536"/>
            <a:ext cx="29443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400" b="1" lang="zh-CN">
                <a:solidFill>
                  <a:srgbClr val="9A4728"/>
                </a:solidFill>
                <a:latin typeface="Microsoft YaHei"/>
                <a:ea typeface="Microsoft YaHei"/>
              </a:rPr>
              <a:t>共同评分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0288" y="269748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100" b="0" lang="zh-CN">
                <a:solidFill>
                  <a:srgbClr val="292724"/>
                </a:solidFill>
                <a:latin typeface="Microsoft YaHei"/>
                <a:ea typeface="Microsoft YaHei"/>
              </a:rPr>
              <a:t>s = Σ wᵢsᵢ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0768" y="2002536"/>
            <a:ext cx="29443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400" b="1" lang="zh-CN">
                <a:solidFill>
                  <a:srgbClr val="9A4728"/>
                </a:solidFill>
                <a:latin typeface="Microsoft YaHei"/>
                <a:ea typeface="Microsoft YaHei"/>
              </a:rPr>
              <a:t>复核行动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0768" y="269748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100" b="0" lang="zh-CN">
                <a:solidFill>
                  <a:srgbClr val="292724"/>
                </a:solidFill>
                <a:latin typeface="Microsoft YaHei"/>
                <a:ea typeface="Microsoft YaHei"/>
              </a:rPr>
              <a:t>review_required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21024" y="2542032"/>
            <a:ext cx="694944" cy="0"/>
          </a:xfrm>
          <a:prstGeom prst="line">
            <a:avLst/>
          </a:prstGeom>
          <a:ln w="16510">
            <a:solidFill>
              <a:srgbClr val="426D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88936" y="2542032"/>
            <a:ext cx="685800" cy="0"/>
          </a:xfrm>
          <a:prstGeom prst="line">
            <a:avLst/>
          </a:prstGeom>
          <a:ln w="16510">
            <a:solidFill>
              <a:srgbClr val="426D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3232" y="3566160"/>
          <a:ext cx="10725912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5029200"/>
                <a:gridCol w="3566160"/>
              </a:tblGrid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92724"/>
                          </a:solidFill>
                          <a:latin typeface="Microsoft YaHei"/>
                          <a:ea typeface="Microsoft YaHei"/>
                        </a:rPr>
                        <a:t>策略</a:t>
                      </a:r>
                    </a:p>
                  </a:txBody>
                  <a:tcPr marL="109728" marR="73152" marT="54864" marB="54864" anchor="ctr">
                    <a:solidFill>
                      <a:srgbClr val="EFE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92724"/>
                          </a:solidFill>
                          <a:latin typeface="Microsoft YaHei"/>
                          <a:ea typeface="Microsoft YaHei"/>
                        </a:rPr>
                        <a:t>最终行动</a:t>
                      </a:r>
                    </a:p>
                  </a:txBody>
                  <a:tcPr marL="109728" marR="73152" marT="54864" marB="54864" anchor="ctr">
                    <a:solidFill>
                      <a:srgbClr val="EFE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92724"/>
                          </a:solidFill>
                          <a:latin typeface="Microsoft YaHei"/>
                          <a:ea typeface="Microsoft YaHei"/>
                        </a:rPr>
                        <a:t>原始评分与证明</a:t>
                      </a:r>
                    </a:p>
                  </a:txBody>
                  <a:tcPr marL="109728" marR="73152" marT="54864" marB="54864" anchor="ctr">
                    <a:solidFill>
                      <a:srgbClr val="EFE6D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不锁定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d_U = 1[s ≥ 0.5]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始终保留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结构硬锁定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d_L = d_U ∨ A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与不锁定相同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校准复核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d_C = d_U ∨ (A ∧ s ≥ η)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仅改变最终行动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58952" y="587959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600" b="0" lang="zh-CN">
                <a:solidFill>
                  <a:srgbClr val="71685F"/>
                </a:solidFill>
                <a:latin typeface="Microsoft YaHei"/>
                <a:ea typeface="Microsoft YaHei"/>
              </a:rPr>
              <a:t>A：观测图推出的高预警；η：仅由验证扰动选择的最低评分支持。</a:t>
            </a:r>
          </a:p>
        </p:txBody>
      </p:sp>
    </p:spTree>
  </p:cSld>
  <p:clrMapOvr>
    <a:masterClrMapping/>
  </p:clrMapOvr>
  <p:transition advClick="1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57784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 lang="zh-CN">
                <a:solidFill>
                  <a:srgbClr val="9A4728"/>
                </a:solidFill>
                <a:latin typeface="Microsoft YaHei"/>
                <a:ea typeface="Microsoft YaHei"/>
              </a:rPr>
              <a:t>创新验证 · 图输入到最终复核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100023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900" b="1" lang="zh-CN">
                <a:solidFill>
                  <a:srgbClr val="292724"/>
                </a:solidFill>
                <a:latin typeface="Microsoft YaHei"/>
                <a:ea typeface="Microsoft YaHei"/>
              </a:rPr>
              <a:t>误报减少，但不能宣称全面胜出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764792"/>
            <a:ext cx="1088136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71685F"/>
                </a:solidFill>
                <a:latin typeface="Microsoft YaHei"/>
                <a:ea typeface="Microsoft YaHei"/>
              </a:rPr>
              <a:t>3种子 × 6条件 × 11方法；以下为20%错误闭环、同一自适应评分模型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22376" y="2414016"/>
          <a:ext cx="6912864" cy="31181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74736" y="2569464"/>
            <a:ext cx="331927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5100" b="1" lang="zh-CN">
                <a:solidFill>
                  <a:srgbClr val="9A4728"/>
                </a:solidFill>
                <a:latin typeface="Microsoft YaHei"/>
                <a:ea typeface="Microsoft YaHei"/>
              </a:rPr>
              <a:t>−8.66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3657600"/>
            <a:ext cx="3236976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lang="zh-CN">
                <a:solidFill>
                  <a:srgbClr val="292724"/>
                </a:solidFill>
                <a:latin typeface="Microsoft YaHei"/>
                <a:ea typeface="Microsoft YaHei"/>
              </a:rPr>
              <a:t>个百分点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lang="zh-CN">
                <a:solidFill>
                  <a:srgbClr val="292724"/>
                </a:solidFill>
                <a:latin typeface="Microsoft YaHei"/>
                <a:ea typeface="Microsoft YaHei"/>
              </a:rPr>
              <a:t>校准相对硬锁定误报率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4645152"/>
            <a:ext cx="324612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600" b="0" lang="zh-CN">
                <a:solidFill>
                  <a:srgbClr val="71685F"/>
                </a:solidFill>
                <a:latin typeface="Microsoft YaHei"/>
                <a:ea typeface="Microsoft YaHei"/>
              </a:rPr>
              <a:t>分数相同，行动不同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600" b="0" lang="zh-CN">
                <a:solidFill>
                  <a:srgbClr val="71685F"/>
                </a:solidFill>
                <a:latin typeface="Microsoft YaHei"/>
                <a:ea typeface="Microsoft YaHei"/>
              </a:rPr>
              <a:t>硬锁定为0的约束违反率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600" b="0" lang="zh-CN">
                <a:solidFill>
                  <a:srgbClr val="71685F"/>
                </a:solidFill>
                <a:latin typeface="Microsoft YaHei"/>
                <a:ea typeface="Microsoft YaHei"/>
              </a:rPr>
              <a:t>不是完美风险预测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15000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1" lang="zh-CN">
                <a:solidFill>
                  <a:srgbClr val="292724"/>
                </a:solidFill>
                <a:latin typeface="Microsoft YaHei"/>
                <a:ea typeface="Microsoft YaHei"/>
              </a:rPr>
              <a:t>F1：不锁定 0.6992  /  硬锁定 0.6144  /  校准 0.6549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2648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lang="zh-CN">
                <a:solidFill>
                  <a:srgbClr val="71685F"/>
                </a:solidFill>
                <a:latin typeface="Microsoft YaHei"/>
                <a:ea typeface="Microsoft YaHei"/>
              </a:rPr>
              <a:t>降低硬锁定代价，不等于全面超过不锁定；合成高复核需求标签并非真实企业风险。</a:t>
            </a:r>
          </a:p>
        </p:txBody>
      </p:sp>
    </p:spTree>
  </p:cSld>
  <p:clrMapOvr>
    <a:masterClrMapping/>
  </p:clrMapOvr>
  <p:transition advClick="1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57784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 lang="zh-CN">
                <a:solidFill>
                  <a:srgbClr val="9A4728"/>
                </a:solidFill>
                <a:latin typeface="Microsoft YaHei"/>
                <a:ea typeface="Microsoft YaHei"/>
              </a:rPr>
              <a:t>结论 · 五维比较与复现边界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100023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900" b="1" lang="zh-CN">
                <a:solidFill>
                  <a:srgbClr val="292724"/>
                </a:solidFill>
                <a:latin typeface="Microsoft YaHei"/>
                <a:ea typeface="Microsoft YaHei"/>
              </a:rPr>
              <a:t>方法各有所长，结论必须可复现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4088" y="1810512"/>
          <a:ext cx="1078992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/>
                <a:gridCol w="4581144"/>
                <a:gridCol w="4818888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92724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 marL="109728" marR="73152" marT="54864" marB="54864" anchor="ctr">
                    <a:solidFill>
                      <a:srgbClr val="EFE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92724"/>
                          </a:solidFill>
                          <a:latin typeface="Microsoft YaHei"/>
                          <a:ea typeface="Microsoft YaHei"/>
                        </a:rPr>
                        <a:t>确定性推理</a:t>
                      </a:r>
                    </a:p>
                  </a:txBody>
                  <a:tcPr marL="109728" marR="73152" marT="54864" marB="54864" anchor="ctr">
                    <a:solidFill>
                      <a:srgbClr val="EFE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92724"/>
                          </a:solidFill>
                          <a:latin typeface="Microsoft YaHei"/>
                          <a:ea typeface="Microsoft YaHei"/>
                        </a:rPr>
                        <a:t>不确定性推理</a:t>
                      </a:r>
                    </a:p>
                  </a:txBody>
                  <a:tcPr marL="109728" marR="73152" marT="54864" marB="54864" anchor="ctr">
                    <a:solidFill>
                      <a:srgbClr val="EFE6D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建模难度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需明确谓词、规则与守卫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需数据分布或隶属度参数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效率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闭包与连接规模决定开销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星形Bayes轻；模糊网格更重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容错性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缺事实可能中断证明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可处理不完整指标，仍会退化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可信度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路径可追溯，不保证资料真实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概率/模糊语义不同，需校准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落地限制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需核验规则与结构事实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71685F"/>
                          </a:solidFill>
                          <a:latin typeface="Microsoft YaHei"/>
                          <a:ea typeface="Microsoft YaHei"/>
                        </a:rPr>
                        <a:t>需验证数据分布与决策代价</a:t>
                      </a:r>
                    </a:p>
                  </a:txBody>
                  <a:tcPr marL="109728" marR="73152" marT="54864" marB="54864" anchor="ctr">
                    <a:solidFill>
                      <a:srgbClr val="F8F5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8" y="5010912"/>
            <a:ext cx="10561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700" b="1" lang="zh-CN">
                <a:solidFill>
                  <a:srgbClr val="9A4728"/>
                </a:solidFill>
                <a:latin typeface="Microsoft YaHei"/>
                <a:ea typeface="Microsoft YaHei"/>
              </a:rPr>
              <a:t>204项项目测试  ·  23,760条图级决策回放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696712"/>
            <a:ext cx="1055217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lang="zh-CN">
                <a:solidFill>
                  <a:srgbClr val="292724"/>
                </a:solidFill>
                <a:latin typeface="Microsoft YaHei"/>
                <a:ea typeface="Microsoft YaHei"/>
              </a:rPr>
              <a:t>数据与标签均为教学构造。下一步：资料核验、跨分布验证与人工复核。</a:t>
            </a:r>
          </a:p>
        </p:txBody>
      </p:sp>
    </p:spTree>
  </p:cSld>
  <p:clrMapOvr>
    <a:masterClrMapping/>
  </p:clrMapOvr>
  <p:transition advClick="1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面向企业股权风险评估的确定性与不确定性混合推理</dc:title>
  <dc:subject>人工智能导论实验二：算法实现、优化与实验验证</dc:subject>
  <dc:creator>第31组</dc:creator>
  <cp:keywords>企业股权,知识建模,确定性推理,不确定性推理,混合推理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